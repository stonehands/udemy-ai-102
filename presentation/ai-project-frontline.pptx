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59752" y="-2743200"/>
            <a:ext cx="7315200" cy="7315200"/>
          </a:xfrm>
          <a:prstGeom prst="ellipse">
            <a:avLst/>
          </a:prstGeom>
          <a:noFill/>
          <a:ln w="12700">
            <a:solidFill>
              <a:srgbClr val="1A3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57032" y="-1645920"/>
            <a:ext cx="5120640" cy="5120640"/>
          </a:xfrm>
          <a:prstGeom prst="ellipse">
            <a:avLst/>
          </a:prstGeom>
          <a:noFill/>
          <a:ln w="12700">
            <a:solidFill>
              <a:srgbClr val="122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9BB"/>
                </a:solidFill>
                <a:latin typeface="Arial"/>
              </a:rPr>
              <a:t>BAYCURRENT CONSULTING — AI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</a:rPr>
              <a:t>AIプロジェクトの</a:t>
            </a:r>
          </a:p>
          <a:p>
            <a:pPr algn="l"/>
            <a:r>
              <a:rPr sz="5200" b="1">
                <a:solidFill>
                  <a:srgbClr val="64B5F6"/>
                </a:solidFill>
                <a:latin typeface="Arial"/>
              </a:rPr>
              <a:t>リアル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00400"/>
            <a:ext cx="731520" cy="381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731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Arial"/>
              </a:rPr>
              <a:t>なぜ、今AIプロジェクトのPMを目指すのか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6858000" cy="1188720"/>
          </a:xfrm>
          <a:prstGeom prst="rect">
            <a:avLst/>
          </a:prstGeom>
          <a:solidFill>
            <a:srgbClr val="1A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41648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AI競争の構造が変わり、企業の勝ち筋が実装力にシフトしている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680"/>
                </a:solidFill>
                <a:latin typeface="Arial"/>
              </a:rPr>
              <a:t>CONFIDENTIAL — FOR INTERNAL USE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10528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6680"/>
                </a:solidFill>
                <a:latin typeface="Arial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世界はもう動いている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Arial"/>
              </a:rPr>
              <a:t>競争軸はモデルから実装へ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4754880" cy="31089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480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Arial"/>
              </a:rPr>
              <a:t>AI Agent 市場規模（成長イメージ）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803904"/>
            <a:ext cx="502920" cy="63093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460240"/>
            <a:ext cx="59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  <a:latin typeface="Arial"/>
              </a:rPr>
              <a:t>2021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10512" y="3488436"/>
            <a:ext cx="502920" cy="94640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4792" y="4460240"/>
            <a:ext cx="59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  <a:latin typeface="Arial"/>
              </a:rPr>
              <a:t>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184" y="3067812"/>
            <a:ext cx="502920" cy="13670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9464" y="4460240"/>
            <a:ext cx="59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  <a:latin typeface="Arial"/>
              </a:rPr>
              <a:t>2023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9856" y="2647188"/>
            <a:ext cx="502920" cy="17876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4460240"/>
            <a:ext cx="59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  <a:latin typeface="Arial"/>
              </a:rPr>
              <a:t>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331720"/>
            <a:ext cx="502920" cy="210312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8808" y="4460240"/>
            <a:ext cx="59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  <a:latin typeface="Arial"/>
              </a:rPr>
              <a:t>2025E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4572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044"/>
                </a:solidFill>
                <a:latin typeface="Arial"/>
              </a:rPr>
              <a:t>市場は急拡大中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737360"/>
            <a:ext cx="5788152" cy="6217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0448" y="1788160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565C0"/>
                </a:solidFill>
                <a:latin typeface="Arial"/>
              </a:rPr>
              <a:t>STAGE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788160"/>
            <a:ext cx="4416552" cy="52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44"/>
                </a:solidFill>
                <a:latin typeface="Arial"/>
              </a:rPr>
              <a:t>LLM競争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1916" y="2359152"/>
            <a:ext cx="3657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565C0"/>
                </a:solidFill>
                <a:latin typeface="Arial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615184"/>
            <a:ext cx="5788152" cy="621792"/>
          </a:xfrm>
          <a:prstGeom prst="rect">
            <a:avLst/>
          </a:prstGeom>
          <a:solidFill>
            <a:srgbClr val="E3ED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2665984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565C0"/>
                </a:solidFill>
                <a:latin typeface="Arial"/>
              </a:rPr>
              <a:t>STAGE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665984"/>
            <a:ext cx="4416552" cy="52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44"/>
                </a:solidFill>
                <a:latin typeface="Arial"/>
              </a:rPr>
              <a:t>Copilot競争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1916" y="3236976"/>
            <a:ext cx="3657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565C0"/>
                </a:solidFill>
                <a:latin typeface="Arial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493008"/>
            <a:ext cx="5788152" cy="621792"/>
          </a:xfrm>
          <a:prstGeom prst="rect">
            <a:avLst/>
          </a:prstGeom>
          <a:solidFill>
            <a:srgbClr val="E3ED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0448" y="3543808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565C0"/>
                </a:solidFill>
                <a:latin typeface="Arial"/>
              </a:rPr>
              <a:t>STAGE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543808"/>
            <a:ext cx="4416552" cy="52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44"/>
                </a:solidFill>
                <a:latin typeface="Arial"/>
              </a:rPr>
              <a:t>AIエージェント競争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1916" y="4114800"/>
            <a:ext cx="3657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565C0"/>
                </a:solidFill>
                <a:latin typeface="Arial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4370832"/>
            <a:ext cx="5788152" cy="621792"/>
          </a:xfrm>
          <a:prstGeom prst="rect">
            <a:avLst/>
          </a:prstGeom>
          <a:solidFill>
            <a:srgbClr val="0F204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0448" y="4421632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STAGE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421632"/>
            <a:ext cx="4416552" cy="52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全社AI運用競争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06440"/>
            <a:ext cx="10908792" cy="621792"/>
          </a:xfrm>
          <a:prstGeom prst="rect">
            <a:avLst/>
          </a:prstGeom>
          <a:solidFill>
            <a:srgbClr val="E3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63500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897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044"/>
                </a:solidFill>
                <a:latin typeface="Arial"/>
              </a:rPr>
              <a:t>競争軸はモデルから実装へ　— 今まさに実装力が問われている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AIファーストの時代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Arial"/>
              </a:rPr>
              <a:t>変化に適応できる企業が勝つ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17236" cy="29260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17236" cy="50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514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Arial"/>
              </a:rPr>
              <a:t>日本企業の課題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94A3B8"/>
                </a:solidFill>
                <a:latin typeface="Arial"/>
              </a:rPr>
              <a:t>→ </a:t>
            </a:r>
            <a:r>
              <a:rPr sz="1300">
                <a:solidFill>
                  <a:srgbClr val="1E293B"/>
                </a:solidFill>
                <a:latin typeface="Arial"/>
              </a:rPr>
              <a:t>人材不足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94A3B8"/>
                </a:solidFill>
                <a:latin typeface="Arial"/>
              </a:rPr>
              <a:t>→ </a:t>
            </a:r>
            <a:r>
              <a:rPr sz="1300">
                <a:solidFill>
                  <a:srgbClr val="1E293B"/>
                </a:solidFill>
                <a:latin typeface="Arial"/>
              </a:rPr>
              <a:t>生産性向上圧力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94A3B8"/>
                </a:solidFill>
                <a:latin typeface="Arial"/>
              </a:rPr>
              <a:t>→ </a:t>
            </a:r>
            <a:r>
              <a:rPr sz="1300">
                <a:solidFill>
                  <a:srgbClr val="1E293B"/>
                </a:solidFill>
                <a:latin typeface="Arial"/>
              </a:rPr>
              <a:t>レガシーシステム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94A3B8"/>
                </a:solidFill>
                <a:latin typeface="Arial"/>
              </a:rPr>
              <a:t>→ </a:t>
            </a:r>
            <a:r>
              <a:rPr sz="1300">
                <a:solidFill>
                  <a:srgbClr val="1E293B"/>
                </a:solidFill>
                <a:latin typeface="Arial"/>
              </a:rPr>
              <a:t>デジタル赤字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3036" y="2971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565C0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1737360"/>
            <a:ext cx="5317236" cy="2926080"/>
          </a:xfrm>
          <a:prstGeom prst="rect">
            <a:avLst/>
          </a:prstGeom>
          <a:solidFill>
            <a:srgbClr val="E3EDF8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7356" y="1737360"/>
            <a:ext cx="5317236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0236" y="1828800"/>
            <a:ext cx="49514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Arial"/>
              </a:rPr>
              <a:t>AIファースト企業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796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565C0"/>
                </a:solidFill>
                <a:latin typeface="Arial"/>
              </a:rPr>
              <a:t>→ </a:t>
            </a:r>
            <a:r>
              <a:rPr sz="1300">
                <a:solidFill>
                  <a:srgbClr val="0F2044"/>
                </a:solidFill>
                <a:latin typeface="Arial"/>
              </a:rPr>
              <a:t>AI前提業務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565C0"/>
                </a:solidFill>
                <a:latin typeface="Arial"/>
              </a:rPr>
              <a:t>→ </a:t>
            </a:r>
            <a:r>
              <a:rPr sz="1300">
                <a:solidFill>
                  <a:srgbClr val="0F2044"/>
                </a:solidFill>
                <a:latin typeface="Arial"/>
              </a:rPr>
              <a:t>AIエージェント活用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565C0"/>
                </a:solidFill>
                <a:latin typeface="Arial"/>
              </a:rPr>
              <a:t>→ </a:t>
            </a:r>
            <a:r>
              <a:rPr sz="1300">
                <a:solidFill>
                  <a:srgbClr val="0F2044"/>
                </a:solidFill>
                <a:latin typeface="Arial"/>
              </a:rPr>
              <a:t>意思決定高速化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565C0"/>
                </a:solidFill>
                <a:latin typeface="Arial"/>
              </a:rPr>
              <a:t>→ </a:t>
            </a:r>
            <a:r>
              <a:rPr sz="1300">
                <a:solidFill>
                  <a:srgbClr val="0F2044"/>
                </a:solidFill>
                <a:latin typeface="Arial"/>
              </a:rPr>
              <a:t>全社最適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06440"/>
            <a:ext cx="10908792" cy="621792"/>
          </a:xfrm>
          <a:prstGeom prst="rect">
            <a:avLst/>
          </a:prstGeom>
          <a:solidFill>
            <a:srgbClr val="E3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63500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044"/>
                </a:solidFill>
                <a:latin typeface="Arial"/>
              </a:rPr>
              <a:t>変化に適応できる企業が勝つ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AIエージェント基盤PJの全体像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Arial"/>
              </a:rPr>
              <a:t>全社をつなぐ共通基盤として推進</a:t>
            </a:r>
          </a:p>
        </p:txBody>
      </p:sp>
      <p:sp>
        <p:nvSpPr>
          <p:cNvPr id="6" name="Oval 5"/>
          <p:cNvSpPr/>
          <p:nvPr/>
        </p:nvSpPr>
        <p:spPr>
          <a:xfrm>
            <a:off x="5362956" y="2560320"/>
            <a:ext cx="1463040" cy="1463040"/>
          </a:xfrm>
          <a:prstGeom prst="ellipse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62956" y="3063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AIエージェント
基盤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4476.0" y="1645920.0"/>
            <a:ext cx="0.0" cy="1645920.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500116" y="1371600"/>
            <a:ext cx="1188720" cy="54864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00116" y="1435608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経営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94476.0" y="2468880.0"/>
            <a:ext cx="1425408.5325968834" cy="822960.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925524" y="2194560"/>
            <a:ext cx="118872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25524" y="2258568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業務部門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4476.0" y="3291840"/>
            <a:ext cx="1425408.5325968834" cy="822960.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925524" y="3840480"/>
            <a:ext cx="118872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5524" y="3904488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IT部門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4476.0" y="3291840"/>
            <a:ext cx="0.0" cy="1645920.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500116" y="4663440"/>
            <a:ext cx="1188720" cy="54864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0116" y="4727448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セキュリティ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669067.467403117" y="3291840"/>
            <a:ext cx="1425408.5325968834" cy="822960.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074707" y="3840480"/>
            <a:ext cx="1188720" cy="54864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74707" y="3904488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データ基盤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4669067.467403117" y="2468880.0"/>
            <a:ext cx="1425408.5325968834" cy="822960.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074707" y="2194560"/>
            <a:ext cx="1188720" cy="5486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74707" y="2258568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インフラ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06440"/>
            <a:ext cx="10908792" cy="621792"/>
          </a:xfrm>
          <a:prstGeom prst="rect">
            <a:avLst/>
          </a:prstGeom>
          <a:solidFill>
            <a:srgbClr val="E3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806440"/>
            <a:ext cx="63500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97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044"/>
                </a:solidFill>
                <a:latin typeface="Arial"/>
              </a:rPr>
              <a:t>全社をつなぐ共通基盤として推進 — PMが全体を統括する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意思決定を動かしたプロセス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452878" cy="1097280"/>
          </a:xfrm>
          <a:prstGeom prst="rect">
            <a:avLst/>
          </a:prstGeom>
          <a:solidFill>
            <a:srgbClr val="E3EDF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236143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044"/>
                </a:solidFill>
                <a:latin typeface="Arial"/>
              </a:rPr>
              <a:t>01  経営課題の
可視化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2958" y="2057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565C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7278" y="1737360"/>
            <a:ext cx="2452878" cy="1097280"/>
          </a:xfrm>
          <a:prstGeom prst="rect">
            <a:avLst/>
          </a:prstGeom>
          <a:solidFill>
            <a:srgbClr val="E3EDF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2998" y="1783080"/>
            <a:ext cx="236143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044"/>
                </a:solidFill>
                <a:latin typeface="Arial"/>
              </a:rPr>
              <a:t>02  価値シナリオ
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0156" y="2057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565C0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6" y="1737360"/>
            <a:ext cx="2452878" cy="1097280"/>
          </a:xfrm>
          <a:prstGeom prst="rect">
            <a:avLst/>
          </a:prstGeom>
          <a:solidFill>
            <a:srgbClr val="E3EDF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0196" y="1783080"/>
            <a:ext cx="236143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044"/>
                </a:solidFill>
                <a:latin typeface="Arial"/>
              </a:rPr>
              <a:t>03  PoCでの
効果検証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7354" y="2057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565C0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1674" y="1737360"/>
            <a:ext cx="2452878" cy="109728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7394" y="1783080"/>
            <a:ext cx="236143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04  投資判断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109087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044"/>
                </a:solidFill>
                <a:latin typeface="Arial"/>
              </a:rPr>
              <a:t>経営を動かしたポイント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565C0"/>
                </a:solidFill>
                <a:latin typeface="Arial"/>
              </a:rPr>
              <a:t>→ </a:t>
            </a:r>
            <a:r>
              <a:rPr sz="1300">
                <a:solidFill>
                  <a:srgbClr val="1E293B"/>
                </a:solidFill>
                <a:latin typeface="Arial"/>
              </a:rPr>
              <a:t>経営課題に直結する価値設計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565C0"/>
                </a:solidFill>
                <a:latin typeface="Arial"/>
              </a:rPr>
              <a:t>→ </a:t>
            </a:r>
            <a:r>
              <a:rPr sz="1300">
                <a:solidFill>
                  <a:srgbClr val="1E293B"/>
                </a:solidFill>
                <a:latin typeface="Arial"/>
              </a:rPr>
              <a:t>小さく早く成功体験を創出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565C0"/>
                </a:solidFill>
                <a:latin typeface="Arial"/>
              </a:rPr>
              <a:t>→ </a:t>
            </a:r>
            <a:r>
              <a:rPr sz="1300">
                <a:solidFill>
                  <a:srgbClr val="1E293B"/>
                </a:solidFill>
                <a:latin typeface="Arial"/>
              </a:rPr>
              <a:t>リスクと対策をセットで提示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565C0"/>
                </a:solidFill>
                <a:latin typeface="Arial"/>
              </a:rPr>
              <a:t>→ </a:t>
            </a:r>
            <a:r>
              <a:rPr sz="1300">
                <a:solidFill>
                  <a:srgbClr val="1E293B"/>
                </a:solidFill>
                <a:latin typeface="Arial"/>
              </a:rPr>
              <a:t>中長期の競争優位につながる投資と説明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08792" cy="621792"/>
          </a:xfrm>
          <a:prstGeom prst="rect">
            <a:avLst/>
          </a:prstGeom>
          <a:solidFill>
            <a:srgbClr val="E3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63500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044"/>
                </a:solidFill>
                <a:latin typeface="Arial"/>
              </a:rPr>
              <a:t>経営を動かす提案には、価値・リスク・競争優位の3点セットが必要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多様な組織を巻き込む推進体制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Arial"/>
              </a:rPr>
              <a:t>組織横断でつなぎ、前に進める</a:t>
            </a:r>
          </a:p>
        </p:txBody>
      </p:sp>
      <p:sp>
        <p:nvSpPr>
          <p:cNvPr id="6" name="Oval 5"/>
          <p:cNvSpPr/>
          <p:nvPr/>
        </p:nvSpPr>
        <p:spPr>
          <a:xfrm>
            <a:off x="5408676" y="2697480"/>
            <a:ext cx="1371600" cy="1371600"/>
          </a:xfrm>
          <a:prstGeom prst="ellipse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8676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AI PM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4476.0" y="1463040.0"/>
            <a:ext cx="0.0" cy="1920240.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568696" y="1234440"/>
            <a:ext cx="1051560" cy="4572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8696" y="128016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役員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94476.0" y="1912290.8185452137"/>
            <a:ext cx="1234306.47962448" cy="1470989.1814547863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03002" y="1683690"/>
            <a:ext cx="1051560" cy="4572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03002" y="172941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経営企画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94476.0" y="3049833.8233168535"/>
            <a:ext cx="1891067.2396441624" cy="333446.1766831465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459763" y="2821233"/>
            <a:ext cx="1051560" cy="4572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9763" y="2866953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業務部門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4476.0" y="3383280"/>
            <a:ext cx="1662976.6213630307" cy="960120.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231672" y="4114800"/>
            <a:ext cx="105156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1672" y="41605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システム部門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4476.0" y="3383280"/>
            <a:ext cx="656760.7600196823" cy="1804435.3581379326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25456" y="4959115"/>
            <a:ext cx="105156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5456" y="5004835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基盤開発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437715.239980318" y="3383280"/>
            <a:ext cx="656760.7600196823" cy="1804435.3581379326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911935" y="4959115"/>
            <a:ext cx="105156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1935" y="5004835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技術検証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431499.378636969" y="3383280"/>
            <a:ext cx="1662976.6213630307" cy="960120.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905719" y="4114800"/>
            <a:ext cx="1051560" cy="4572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05719" y="41605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インフラ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4203408.760355838" y="3049833.8233168535"/>
            <a:ext cx="1891067.2396441624" cy="333446.1766831465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77628" y="2821233"/>
            <a:ext cx="1051560" cy="4572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7628" y="2866953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セキュリティ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4860169.52037552" y="1912290.818545214"/>
            <a:ext cx="1234306.47962448" cy="1470989.181454786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334389" y="1683690"/>
            <a:ext cx="1051560" cy="4572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34389" y="172941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データチーム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10908792" cy="621792"/>
          </a:xfrm>
          <a:prstGeom prst="rect">
            <a:avLst/>
          </a:prstGeom>
          <a:solidFill>
            <a:srgbClr val="E3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806440"/>
            <a:ext cx="63500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897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044"/>
                </a:solidFill>
                <a:latin typeface="Arial"/>
              </a:rPr>
              <a:t>PMは組織の境界を越えて合意を形成し、プロジェクトを前進させる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EPISODE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AIが変えた仕事のスピードと質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71516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2715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Arial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9057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Arial"/>
              </a:rPr>
              <a:t>考える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2958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Arial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9057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Arial"/>
              </a:rPr>
              <a:t>持ち帰る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2958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Arial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49057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Arial"/>
              </a:rPr>
              <a:t>作る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2958" y="3520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Arial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49057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Arial"/>
              </a:rPr>
              <a:t>レビュー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7356" y="1554480"/>
            <a:ext cx="5271516" cy="3474720"/>
          </a:xfrm>
          <a:prstGeom prst="rect">
            <a:avLst/>
          </a:prstGeom>
          <a:solidFill>
            <a:srgbClr val="E3ED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1645920"/>
            <a:ext cx="52715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Arial"/>
              </a:rP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236" y="2011680"/>
            <a:ext cx="49057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44"/>
                </a:solidFill>
                <a:latin typeface="Arial"/>
              </a:rPr>
              <a:t>考える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0234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565C0"/>
                </a:solidFill>
                <a:latin typeface="Arial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0236" y="2606040"/>
            <a:ext cx="49057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44"/>
                </a:solidFill>
                <a:latin typeface="Arial"/>
              </a:rPr>
              <a:t>その場で試作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0234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565C0"/>
                </a:solidFill>
                <a:latin typeface="Arial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3200400"/>
            <a:ext cx="49057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44"/>
                </a:solidFill>
                <a:latin typeface="Arial"/>
              </a:rPr>
              <a:t>その場で議論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0234" y="3520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565C0"/>
                </a:solidFill>
                <a:latin typeface="Arial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794760"/>
            <a:ext cx="49057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44"/>
                </a:solidFill>
                <a:latin typeface="Arial"/>
              </a:rPr>
              <a:t>その場で修正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7316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2044"/>
                </a:solidFill>
                <a:latin typeface="Arial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806440"/>
            <a:ext cx="10908792" cy="621792"/>
          </a:xfrm>
          <a:prstGeom prst="rect">
            <a:avLst/>
          </a:prstGeom>
          <a:solidFill>
            <a:srgbClr val="E3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806440"/>
            <a:ext cx="63500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897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044"/>
                </a:solidFill>
                <a:latin typeface="Arial"/>
              </a:rPr>
              <a:t>AIは思考速度を変えた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AIは業務に組み込まれる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120140" cy="777240"/>
          </a:xfrm>
          <a:prstGeom prst="rect">
            <a:avLst/>
          </a:prstGeom>
          <a:solidFill>
            <a:srgbClr val="E3EDF8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287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044"/>
                </a:solidFill>
                <a:latin typeface="Arial"/>
              </a:rPr>
              <a:t>ChatGPT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0220" y="18745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897380" y="1645920"/>
            <a:ext cx="1120140" cy="777240"/>
          </a:xfrm>
          <a:prstGeom prst="rect">
            <a:avLst/>
          </a:prstGeom>
          <a:solidFill>
            <a:srgbClr val="E3EDF8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3100" y="1737360"/>
            <a:ext cx="10287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044"/>
                </a:solidFill>
                <a:latin typeface="Arial"/>
              </a:rPr>
              <a:t>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745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645920"/>
            <a:ext cx="112014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737360"/>
            <a:ext cx="10287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AI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4820" y="18745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11980" y="1645920"/>
            <a:ext cx="112014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7700" y="1737360"/>
            <a:ext cx="10287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Digital
Workforce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63040"/>
            <a:ext cx="542239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044"/>
                </a:solidFill>
                <a:latin typeface="Arial"/>
              </a:rPr>
              <a:t>技術連携レイヤー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API連携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MCP (Model Context Protocol)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RPA連携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Event連携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Agent Identity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OBO認証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044"/>
                </a:solidFill>
                <a:latin typeface="Arial"/>
              </a:rPr>
              <a:t>業務実装の深度が競争優位を決める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71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単なるツール導入ではなく、業務プロセスへの深い統合が
真の競争力を生む。PMはこの実装深度を設計する。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806440"/>
            <a:ext cx="10908792" cy="621792"/>
          </a:xfrm>
          <a:prstGeom prst="rect">
            <a:avLst/>
          </a:prstGeom>
          <a:solidFill>
            <a:srgbClr val="E3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806440"/>
            <a:ext cx="63500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044"/>
                </a:solidFill>
                <a:latin typeface="Arial"/>
              </a:rPr>
              <a:t>競争軸は業務実装 — 深く組み込んだ企業が勝つ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CHALLENGE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経営価値を創出する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Arial"/>
              </a:rPr>
              <a:t>効率化だけでは数百億の投資は動かない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4997196" cy="2743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4997196" cy="50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9719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Arial"/>
              </a:rPr>
              <a:t>現場視点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21408"/>
            <a:ext cx="4631436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75569"/>
                </a:solidFill>
                <a:latin typeface="Arial"/>
              </a:rPr>
              <a:t>効率化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1">
                <a:solidFill>
                  <a:srgbClr val="94A3B8"/>
                </a:solidFill>
                <a:latin typeface="Arial"/>
              </a:rPr>
              <a:t>→ </a:t>
            </a:r>
            <a:r>
              <a:rPr sz="1200">
                <a:solidFill>
                  <a:srgbClr val="475569"/>
                </a:solidFill>
                <a:latin typeface="Arial"/>
              </a:rPr>
              <a:t>仕事が楽になる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94A3B8"/>
                </a:solidFill>
                <a:latin typeface="Arial"/>
              </a:rPr>
              <a:t>→ </a:t>
            </a:r>
            <a:r>
              <a:rPr sz="1200">
                <a:solidFill>
                  <a:srgbClr val="475569"/>
                </a:solidFill>
                <a:latin typeface="Arial"/>
              </a:rPr>
              <a:t>ミスが減る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94A3B8"/>
                </a:solidFill>
                <a:latin typeface="Arial"/>
              </a:rPr>
              <a:t>→ </a:t>
            </a:r>
            <a:r>
              <a:rPr sz="1200">
                <a:solidFill>
                  <a:srgbClr val="475569"/>
                </a:solidFill>
                <a:latin typeface="Arial"/>
              </a:rPr>
              <a:t>時間短縮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4436" y="2834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94A3B8"/>
                </a:solidFill>
                <a:latin typeface="Arial"/>
              </a:rPr>
              <a:t>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4516" y="1737360"/>
            <a:ext cx="4997196" cy="2743200"/>
          </a:xfrm>
          <a:prstGeom prst="rect">
            <a:avLst/>
          </a:prstGeom>
          <a:solidFill>
            <a:srgbClr val="E3EDF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4516" y="1737360"/>
            <a:ext cx="4997196" cy="50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7396" y="1828800"/>
            <a:ext cx="499719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044"/>
                </a:solidFill>
                <a:latin typeface="Arial"/>
              </a:rPr>
              <a:t>経営視点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7396" y="2121408"/>
            <a:ext cx="4631436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2044"/>
                </a:solidFill>
                <a:latin typeface="Arial"/>
              </a:rPr>
              <a:t>競争力・P/L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956" y="28346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売上向上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利益拡大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競争力強化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86400"/>
            <a:ext cx="10908792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486400"/>
            <a:ext cx="63500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96128"/>
            <a:ext cx="10543032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7C00"/>
                </a:solidFill>
                <a:latin typeface="Arial"/>
              </a:rPr>
              <a:t>落とし穴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33872"/>
            <a:ext cx="1054303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4037"/>
                </a:solidFill>
                <a:latin typeface="Arial"/>
              </a:rPr>
              <a:t>「楽になります」だけでは数百億は動かない。経営言語への翻訳が必須。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CHALLENGE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システム接続の壁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Arial"/>
              </a:rPr>
              <a:t>本当に難しいのは接続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514344" cy="3200400"/>
          </a:xfrm>
          <a:prstGeom prst="rect">
            <a:avLst/>
          </a:prstGeom>
          <a:solidFill>
            <a:srgbClr val="E3EDF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240024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Arial"/>
              </a:rPr>
              <a:t>理想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2400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044"/>
                </a:solidFill>
                <a:latin typeface="Arial"/>
              </a:rPr>
              <a:t>API 連携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• APIでシームレス連携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• クリーンな実装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• エージェントが自律動作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7304" y="1645920"/>
            <a:ext cx="3514344" cy="3200400"/>
          </a:xfrm>
          <a:prstGeom prst="rect">
            <a:avLst/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4464" y="1737360"/>
            <a:ext cx="3240024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7C00"/>
                </a:solidFill>
                <a:latin typeface="Arial"/>
              </a:rPr>
              <a:t>現実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4464" y="2011680"/>
            <a:ext cx="32400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7C00"/>
                </a:solidFill>
                <a:latin typeface="Arial"/>
              </a:rPr>
              <a:t>壁が存在する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46888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• APIが存在しない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4464" y="288036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• レガシーシステム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4464" y="329184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• 接続方式がバラバラ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4464" y="370332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• データ所在不明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528" y="1645920"/>
            <a:ext cx="3514344" cy="3200400"/>
          </a:xfrm>
          <a:prstGeom prst="rect">
            <a:avLst/>
          </a:prstGeom>
          <a:solidFill>
            <a:srgbClr val="E3EDF8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1688" y="1737360"/>
            <a:ext cx="3240024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044"/>
                </a:solidFill>
                <a:latin typeface="Arial"/>
              </a:rPr>
              <a:t>打ち手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1688" y="2011680"/>
            <a:ext cx="32400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044"/>
                </a:solidFill>
                <a:latin typeface="Arial"/>
              </a:rPr>
              <a:t>解決策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1688" y="246888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• API新規構築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1688" y="288036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• MCP活用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1688" y="329184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• RPA連携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1688" y="370332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• ETL/データ連携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06440"/>
            <a:ext cx="10908792" cy="621792"/>
          </a:xfrm>
          <a:prstGeom prst="rect">
            <a:avLst/>
          </a:prstGeom>
          <a:solidFill>
            <a:srgbClr val="E3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806440"/>
            <a:ext cx="63500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97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044"/>
                </a:solidFill>
                <a:latin typeface="Arial"/>
              </a:rPr>
              <a:t>PoC で動いても、本番に繋がらない — 接続設計こそがPMの真価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CHALLENGE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ネットワーク・認証・セキュリティの壁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Arial"/>
              </a:rPr>
              <a:t>AIエージェントは人の代わりに動く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17236" cy="2926080"/>
          </a:xfrm>
          <a:prstGeom prst="rect">
            <a:avLst/>
          </a:prstGeom>
          <a:solidFill>
            <a:srgbClr val="E3EDF8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317236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31723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Arial"/>
              </a:rPr>
              <a:t>技術領域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OA網 / 業務網 / 閉域網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OAuth 2.0 / PKCE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On-Behalf-Of (OBO)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Microsoft Entra ID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Agent Identity管理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1645920"/>
            <a:ext cx="5317236" cy="29260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7356" y="1645920"/>
            <a:ext cx="5317236" cy="50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0236" y="1737360"/>
            <a:ext cx="531723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044"/>
                </a:solidFill>
                <a:latin typeface="Arial"/>
              </a:rPr>
              <a:t>ガバナンス領域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796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1">
                <a:solidFill>
                  <a:srgbClr val="0F2044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権限管理・最小権限原則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2044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監査ログ・トレーサビリティ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2044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責任分界の設計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2044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エージェントの説明責任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486400"/>
            <a:ext cx="10908792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486400"/>
            <a:ext cx="63500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596128"/>
            <a:ext cx="10543032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7C00"/>
                </a:solidFill>
                <a:latin typeface="Arial"/>
              </a:rPr>
              <a:t>根本的な難しさ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33872"/>
            <a:ext cx="1054303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4037"/>
                </a:solidFill>
                <a:latin typeface="Arial"/>
              </a:rPr>
              <a:t>人間は「自分でログインする」。エージェントは「権限を委任される」。この違いが設計を極めて複雑にする。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CHALLENGE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LLMコストと全社展開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Arial"/>
              </a:rPr>
              <a:t>コスト管理なくして全社展開はできない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10908792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数万人規模の全社利用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5317236" cy="2377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531723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044"/>
                </a:solidFill>
                <a:latin typeface="Arial"/>
              </a:rPr>
              <a:t>コスト要因の積み上げ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1">
                <a:solidFill>
                  <a:srgbClr val="C62828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推論コスト（トークン単価）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C62828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RAG検索コスト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C62828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音声認識・合成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C62828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画像・動画解析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C62828"/>
                </a:solidFill>
                <a:latin typeface="Arial"/>
              </a:rPr>
              <a:t>→ </a:t>
            </a:r>
            <a:r>
              <a:rPr sz="1200">
                <a:solidFill>
                  <a:srgbClr val="1E293B"/>
                </a:solidFill>
                <a:latin typeface="Arial"/>
              </a:rPr>
              <a:t>マルチエージェント並列実行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2468880"/>
            <a:ext cx="5317236" cy="2377440"/>
          </a:xfrm>
          <a:prstGeom prst="rect">
            <a:avLst/>
          </a:prstGeom>
          <a:solidFill>
            <a:srgbClr val="E3EDF8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2560320"/>
            <a:ext cx="531723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044"/>
                </a:solidFill>
                <a:latin typeface="Arial"/>
              </a:rPr>
              <a:t>最適化戦略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9260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ROI最大化設計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TCO最適化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モデル戦略（適材適所）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キャッシュ・圧縮活用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565C0"/>
                </a:solidFill>
                <a:latin typeface="Arial"/>
              </a:rPr>
              <a:t>→ </a:t>
            </a:r>
            <a:r>
              <a:rPr sz="1200">
                <a:solidFill>
                  <a:srgbClr val="0F2044"/>
                </a:solidFill>
                <a:latin typeface="Arial"/>
              </a:rPr>
              <a:t>コスト可視化ダッシュボード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806440"/>
            <a:ext cx="10908792" cy="621792"/>
          </a:xfrm>
          <a:prstGeom prst="rect">
            <a:avLst/>
          </a:prstGeom>
          <a:solidFill>
            <a:srgbClr val="E3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806440"/>
            <a:ext cx="63500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044"/>
                </a:solidFill>
                <a:latin typeface="Arial"/>
              </a:rPr>
              <a:t>コストは将来下がる。今蓄積するノウハウこそが競争資産。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PM COMPETENCY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AI PMに求められる力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Arial"/>
              </a:rPr>
              <a:t>技術 × 業務 × 人 をつなぐ総合力が必要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2956" y="1051560"/>
            <a:ext cx="1463040" cy="8229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8676" y="1088136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8676" y="1371600"/>
            <a:ext cx="1371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  <a:latin typeface="Arial"/>
              </a:rPr>
              <a:t>AI技術理解 / 活用判断 / ガバナンス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5121" y="2057400"/>
            <a:ext cx="146304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841" y="2093976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業務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841" y="2377440"/>
            <a:ext cx="1371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  <a:latin typeface="Arial"/>
              </a:rPr>
              <a:t>要件定義 / 業務改革 / 合意形成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5121" y="4069080"/>
            <a:ext cx="1463040" cy="8229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841" y="4105656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841" y="4389120"/>
            <a:ext cx="1371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  <a:latin typeface="Arial"/>
              </a:rPr>
              <a:t>体験設計 / 利用定着 / プロトタイピング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62956" y="5074920"/>
            <a:ext cx="146304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8676" y="5111496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8676" y="5394960"/>
            <a:ext cx="1371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  <a:latin typeface="Arial"/>
              </a:rPr>
              <a:t>アーキテクチャ / 連携基盤 / 技術選定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20790" y="4069080"/>
            <a:ext cx="1463040" cy="8229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6510" y="4105656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アジャイル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510" y="4389120"/>
            <a:ext cx="1371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  <a:latin typeface="Arial"/>
              </a:rPr>
              <a:t>高速検証 / MVP思考 / 改善サイクル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20790" y="2057400"/>
            <a:ext cx="1463040" cy="8229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510" y="2093976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ガバナンス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510" y="2377440"/>
            <a:ext cx="1371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  <a:latin typeface="Arial"/>
              </a:rPr>
              <a:t>リスク管理 / コンプライアンス / 責任分界</a:t>
            </a:r>
          </a:p>
        </p:txBody>
      </p:sp>
      <p:sp>
        <p:nvSpPr>
          <p:cNvPr id="24" name="Oval 23"/>
          <p:cNvSpPr/>
          <p:nvPr/>
        </p:nvSpPr>
        <p:spPr>
          <a:xfrm>
            <a:off x="5436108" y="2816352"/>
            <a:ext cx="1316736" cy="1316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36108" y="3273552"/>
            <a:ext cx="13167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044"/>
                </a:solidFill>
                <a:latin typeface="Arial"/>
              </a:rPr>
              <a:t>AI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06440"/>
            <a:ext cx="10908792" cy="621792"/>
          </a:xfrm>
          <a:prstGeom prst="rect">
            <a:avLst/>
          </a:prstGeom>
          <a:solidFill>
            <a:srgbClr val="E3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806440"/>
            <a:ext cx="63500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97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044"/>
                </a:solidFill>
                <a:latin typeface="Arial"/>
              </a:rPr>
              <a:t>AI PMは6つの力を統合するオーケストレーター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この仕事の魅力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Arial"/>
              </a:rPr>
              <a:t>圧倒的に成長できる環境がここにある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514344" cy="3291840"/>
          </a:xfrm>
          <a:prstGeom prst="rect">
            <a:avLst/>
          </a:prstGeom>
          <a:solidFill>
            <a:srgbClr val="F0F4F8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514344" cy="73152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3314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幅広い学び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80944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業務改革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01568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22192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クラウド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42816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経営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7304" y="1645920"/>
            <a:ext cx="3514344" cy="3291840"/>
          </a:xfrm>
          <a:prstGeom prst="rect">
            <a:avLst/>
          </a:prstGeom>
          <a:solidFill>
            <a:srgbClr val="F0F4F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7304" y="1645920"/>
            <a:ext cx="3514344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8744" y="1783080"/>
            <a:ext cx="33314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世界の最前線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4464" y="2560320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AI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4464" y="2980944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4464" y="3401568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OBO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4464" y="3822192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Agent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4464" y="4242816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AIガバナンス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1645920"/>
            <a:ext cx="3514344" cy="3291840"/>
          </a:xfrm>
          <a:prstGeom prst="rect">
            <a:avLst/>
          </a:prstGeom>
          <a:solidFill>
            <a:srgbClr val="F0F4F8"/>
          </a:solidFill>
          <a:ln w="190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1645920"/>
            <a:ext cx="3514344" cy="73152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5968" y="1783080"/>
            <a:ext cx="33314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実践の場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1688" y="2560320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Foundry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1688" y="2980944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Dify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1688" y="3401568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Copilot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1688" y="3822192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最新LLM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1688" y="4242816"/>
            <a:ext cx="3240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44"/>
                </a:solidFill>
                <a:latin typeface="Arial"/>
              </a:rPr>
              <a:t>→ 実案件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06440"/>
            <a:ext cx="10908792" cy="621792"/>
          </a:xfrm>
          <a:prstGeom prst="rect">
            <a:avLst/>
          </a:prstGeom>
          <a:solidFill>
            <a:srgbClr val="E3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806440"/>
            <a:ext cx="63500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97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044"/>
                </a:solidFill>
                <a:latin typeface="Arial"/>
              </a:rPr>
              <a:t>圧倒的に成長できる環境がここにある — 最前線で学び続けよう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64287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  <a:latin typeface="Arial"/>
              </a:rPr>
              <a:t>私の答え、そしてあなたへ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486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271516" cy="256032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05756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9BB"/>
                </a:solidFill>
                <a:latin typeface="Arial"/>
              </a:rPr>
              <a:t>MY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057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世界で戦えるように、
日本企業を
応援したい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3076" y="2011680"/>
            <a:ext cx="5271516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5956" y="2148840"/>
            <a:ext cx="4905756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rial"/>
              </a:rPr>
              <a:t>YOUR 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956" y="2468880"/>
            <a:ext cx="49057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044"/>
                </a:solidFill>
                <a:latin typeface="Arial"/>
              </a:rPr>
              <a:t>なぜ
AIプロジェクト PM を
目指しますか？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Arial"/>
              </a:rPr>
              <a:t>AIエージェントは、まだ完成された世界ではありません。だからこそ、面白い。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68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CC"/>
                </a:solidFill>
                <a:latin typeface="Arial"/>
              </a:rPr>
              <a:t>BAYCURRENT CONSULTING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17352" y="6568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9AA"/>
                </a:solidFill>
                <a:latin typeface="Arial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